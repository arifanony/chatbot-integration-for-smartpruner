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0E5B4">
              <a:alpha val="6000"/>
            </a:srgbClr>
          </a:solidFill>
          <a:ln w="12700">
            <a:solidFill>
              <a:srgbClr val="00E5B4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7B5EFC">
              <a:alpha val="6000"/>
            </a:srgbClr>
          </a:solidFill>
          <a:ln w="12700">
            <a:solidFill>
              <a:srgbClr val="7B5EF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00E5B4">
              <a:alpha val="10000"/>
            </a:srgbClr>
          </a:solidFill>
          <a:ln w="12700">
            <a:solidFill>
              <a:srgbClr val="00E5B4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24128"/>
            <a:ext cx="9144000" cy="22860"/>
          </a:xfrm>
          <a:prstGeom prst="rect">
            <a:avLst/>
          </a:prstGeom>
          <a:solidFill>
            <a:srgbClr val="00E5B4">
              <a:alpha val="35000"/>
            </a:srgbClr>
          </a:solidFill>
          <a:ln w="12700">
            <a:solidFill>
              <a:srgbClr val="00E5B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237744"/>
            <a:ext cx="548640" cy="548640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37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SMARTPRUNER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5303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ATTENDANCE INTELLIGENCE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772400" y="228600"/>
            <a:ext cx="1051560" cy="411480"/>
          </a:xfrm>
          <a:prstGeom prst="rect">
            <a:avLst/>
          </a:prstGeom>
          <a:solidFill>
            <a:srgbClr val="00E5B4">
              <a:alpha val="12000"/>
            </a:srgbClr>
          </a:solidFill>
          <a:ln w="12700">
            <a:solidFill>
              <a:srgbClr val="00E5B4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2286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117043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SmartPruner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365760" y="217627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200" dirty="0"/>
          </a:p>
        </p:txBody>
      </p:sp>
      <p:sp>
        <p:nvSpPr>
          <p:cNvPr id="15" name="Shape 13"/>
          <p:cNvSpPr/>
          <p:nvPr/>
        </p:nvSpPr>
        <p:spPr>
          <a:xfrm>
            <a:off x="5120640" y="2331720"/>
            <a:ext cx="3657600" cy="22860"/>
          </a:xfrm>
          <a:prstGeom prst="rect">
            <a:avLst/>
          </a:prstGeom>
          <a:solidFill>
            <a:srgbClr val="A8BCDE">
              <a:alpha val="35000"/>
            </a:srgbClr>
          </a:solidFill>
          <a:ln w="12700">
            <a:solidFill>
              <a:srgbClr val="A8BCDE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45059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HR Attendance Intelligence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Gemini AI · Voice-Enabled · Multilingual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07408"/>
            <a:ext cx="9144000" cy="22860"/>
          </a:xfrm>
          <a:prstGeom prst="rect">
            <a:avLst/>
          </a:prstGeom>
          <a:solidFill>
            <a:srgbClr val="00E5B4">
              <a:alpha val="50000"/>
            </a:srgbClr>
          </a:solidFill>
          <a:ln w="12700">
            <a:solidFill>
              <a:srgbClr val="00E5B4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531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Intents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74520" y="4526280"/>
            <a:ext cx="13716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44531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19456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Supported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11880" y="4526280"/>
            <a:ext cx="13716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44531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93192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SQL Engine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349240" y="4526280"/>
            <a:ext cx="13716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44531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Output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086600" y="4526280"/>
            <a:ext cx="13716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44531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0664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Gemini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60D1F"/>
          </a:solidFill>
          <a:ln w="12700">
            <a:solidFill>
              <a:srgbClr val="06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5486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01168" y="2286000"/>
            <a:ext cx="2011680" cy="45720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24688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are bottlenecked by manual, language-locked, data-siloed attendance processes.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3474720"/>
            <a:ext cx="2011680" cy="2011680"/>
          </a:xfrm>
          <a:prstGeom prst="ellipse">
            <a:avLst/>
          </a:prstGeom>
          <a:solidFill>
            <a:srgbClr val="00E5B4">
              <a:alpha val="8000"/>
            </a:srgbClr>
          </a:solidFill>
          <a:ln w="12700">
            <a:solidFill>
              <a:srgbClr val="00E5B4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256032"/>
            <a:ext cx="2331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2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49040" y="256032"/>
            <a:ext cx="2331720" cy="73152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3632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913632" y="10607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13632" y="1426464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 single attendance report takes 20–45 minutes. Multiply that across departments.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91072" y="256032"/>
            <a:ext cx="2331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2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91072" y="256032"/>
            <a:ext cx="2331720" cy="73152"/>
          </a:xfrm>
          <a:prstGeom prst="rect">
            <a:avLst/>
          </a:prstGeom>
          <a:solidFill>
            <a:srgbClr val="7B5EFC"/>
          </a:solidFill>
          <a:ln w="12700">
            <a:solidFill>
              <a:srgbClr val="7B5E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55664" y="10607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Wall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55664" y="1426464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staff cannot independently query data — creating IT dependency for basic questions.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49040" y="2615184"/>
            <a:ext cx="2331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2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2615184"/>
            <a:ext cx="233172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13632" y="2798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913632" y="34198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13632" y="3785616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records live inside SQL — inaccessible to HR without developer involvement.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91072" y="2615184"/>
            <a:ext cx="2331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2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91072" y="2615184"/>
            <a:ext cx="2331720" cy="73152"/>
          </a:xfrm>
          <a:prstGeom prst="rect">
            <a:avLst/>
          </a:prstGeom>
          <a:solidFill>
            <a:srgbClr val="FF4D8B"/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2798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🔇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455664" y="34198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Voice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55664" y="3785616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hands-free capability. Factory supervisors need phone-based, spoken attendance queries.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371600"/>
            <a:ext cx="4572000" cy="4572000"/>
          </a:xfrm>
          <a:prstGeom prst="ellipse">
            <a:avLst/>
          </a:prstGeom>
          <a:solidFill>
            <a:srgbClr val="00E5B4">
              <a:alpha val="4000"/>
            </a:srgbClr>
          </a:solidFill>
          <a:ln w="12700">
            <a:solidFill>
              <a:srgbClr val="00E5B4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7B5EFC">
              <a:alpha val="5000"/>
            </a:srgbClr>
          </a:solidFill>
          <a:ln w="12700">
            <a:solidFill>
              <a:srgbClr val="7B5EFC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292608"/>
            <a:ext cx="2011680" cy="347472"/>
          </a:xfrm>
          <a:prstGeom prst="rect">
            <a:avLst/>
          </a:prstGeom>
          <a:solidFill>
            <a:srgbClr val="00E5B4">
              <a:alpha val="12000"/>
            </a:srgbClr>
          </a:solidFill>
          <a:ln w="12700">
            <a:solidFill>
              <a:srgbClr val="00E5B4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92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841248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 between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HR team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your data.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84048" y="3310128"/>
            <a:ext cx="3200400" cy="36576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349300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any language. Get a spoken answer. Instantly.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292608"/>
            <a:ext cx="2651760" cy="1417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92608"/>
            <a:ext cx="54864" cy="1417320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40233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74980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Lite classifies 40+ HR attendance intents from natural language in English, Tamil &amp; Hindi.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865376"/>
            <a:ext cx="2651760" cy="1417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865376"/>
            <a:ext cx="54864" cy="1417320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97510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Auto-Builder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322576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generates precise MSSQL queries — no hardcoded SQL. Date ranges, pagination, employee lookup.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3438144"/>
            <a:ext cx="2651760" cy="1417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438144"/>
            <a:ext cx="54864" cy="1417320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5478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Pipeline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89534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STT input → AI processing → Kokoro TTS (EN) or Google TTS (TA/HI) output as MP3.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60D1F"/>
          </a:solidFill>
          <a:ln w="12700">
            <a:solidFill>
              <a:srgbClr val="06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863840" y="91440"/>
            <a:ext cx="658368" cy="658368"/>
          </a:xfrm>
          <a:prstGeom prst="ellipse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91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35240" y="74980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92608" y="1115568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2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2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2743200"/>
            <a:ext cx="2651760" cy="64008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25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12070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15727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Coverage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0624" y="1956816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Present, absent, late, early, overtime, on-time, individual, summary — every HR query covered.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72968" y="1115568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2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2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2743200"/>
            <a:ext cx="2651760" cy="64008"/>
          </a:xfrm>
          <a:prstGeom prst="rect">
            <a:avLst/>
          </a:prstGeom>
          <a:solidFill>
            <a:srgbClr val="7B5EFC"/>
          </a:solidFill>
          <a:ln w="12700">
            <a:solidFill>
              <a:srgbClr val="7B5E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225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977640" y="12070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5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977640" y="15727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00984" y="1956816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classification &amp; response in English, Tamil script, Tamil transliteration, and Hindi Devanagari.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53328" y="1115568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2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2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53328" y="2743200"/>
            <a:ext cx="26517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225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58000" y="12070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858000" y="15727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Response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81344" y="1956816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query builder generates and executes MSSQL in under a second. No IT middleman.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2608" y="2990088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2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2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92608" y="4617720"/>
            <a:ext cx="2651760" cy="64008"/>
          </a:xfrm>
          <a:prstGeom prst="rect">
            <a:avLst/>
          </a:prstGeom>
          <a:solidFill>
            <a:srgbClr val="FF4D8B"/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🎙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097280" y="30815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97280" y="34472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I/O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0624" y="3831336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STT for voice-in. Kokoro TTS (EN) and Google Cloud TTS (TA/HI) for spoken responses.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72968" y="2990088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2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2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72968" y="4617720"/>
            <a:ext cx="2651760" cy="64008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3977640" y="30815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977640" y="34472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00984" y="3831336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10-message rolling context per session. Follow-up queries need zero repeated context.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53328" y="2990088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2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20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53328" y="4617720"/>
            <a:ext cx="2651760" cy="64008"/>
          </a:xfrm>
          <a:prstGeom prst="rect">
            <a:avLst/>
          </a:prstGeom>
          <a:solidFill>
            <a:srgbClr val="7B5EFC"/>
          </a:solidFill>
          <a:ln w="12700">
            <a:solidFill>
              <a:srgbClr val="7B5E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858000" y="30815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5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858000" y="34472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Disambiguation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81344" y="3831336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name matches surfaced as a numbered list. User picks one. No wrong-employee errors.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orchestration · Gemini AI · MSSQL · Kokoro &amp; Google TTS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93192" y="1106424"/>
            <a:ext cx="1060704" cy="1188720"/>
          </a:xfrm>
          <a:prstGeom prst="rect">
            <a:avLst/>
          </a:prstGeom>
          <a:solidFill>
            <a:srgbClr val="00E5B4">
              <a:alpha val="10000"/>
            </a:srgbClr>
          </a:solidFill>
          <a:ln w="12700">
            <a:solidFill>
              <a:srgbClr val="00E5B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143000"/>
            <a:ext cx="987552" cy="1115568"/>
          </a:xfrm>
          <a:prstGeom prst="rect">
            <a:avLst/>
          </a:prstGeom>
          <a:solidFill>
            <a:srgbClr val="0F2040"/>
          </a:solidFill>
          <a:ln w="15240">
            <a:solidFill>
              <a:srgbClr val="00E5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143000"/>
            <a:ext cx="987552" cy="54864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3444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746504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Voice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26464" y="1673352"/>
            <a:ext cx="36576" cy="54864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35608" y="1106424"/>
            <a:ext cx="1060704" cy="1188720"/>
          </a:xfrm>
          <a:prstGeom prst="rect">
            <a:avLst/>
          </a:prstGeom>
          <a:solidFill>
            <a:srgbClr val="00B890">
              <a:alpha val="10000"/>
            </a:srgbClr>
          </a:solidFill>
          <a:ln w="12700">
            <a:solidFill>
              <a:srgbClr val="00B890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72184" y="1143000"/>
            <a:ext cx="987552" cy="1115568"/>
          </a:xfrm>
          <a:prstGeom prst="rect">
            <a:avLst/>
          </a:prstGeom>
          <a:solidFill>
            <a:srgbClr val="0F2040"/>
          </a:solidFill>
          <a:ln w="15240">
            <a:solidFill>
              <a:srgbClr val="00B8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72184" y="1143000"/>
            <a:ext cx="987552" cy="54864"/>
          </a:xfrm>
          <a:prstGeom prst="rect">
            <a:avLst/>
          </a:prstGeom>
          <a:solidFill>
            <a:srgbClr val="00B890"/>
          </a:solidFill>
          <a:ln w="12700">
            <a:solidFill>
              <a:srgbClr val="00B8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72184" y="123444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72184" y="1746504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voice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text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68880" y="1673352"/>
            <a:ext cx="36576" cy="54864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78024" y="1106424"/>
            <a:ext cx="1060704" cy="1188720"/>
          </a:xfrm>
          <a:prstGeom prst="rect">
            <a:avLst/>
          </a:prstGeom>
          <a:solidFill>
            <a:srgbClr val="7B5EFC">
              <a:alpha val="10000"/>
            </a:srgbClr>
          </a:solidFill>
          <a:ln w="12700">
            <a:solidFill>
              <a:srgbClr val="7B5EFC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1143000"/>
            <a:ext cx="987552" cy="1115568"/>
          </a:xfrm>
          <a:prstGeom prst="rect">
            <a:avLst/>
          </a:prstGeom>
          <a:solidFill>
            <a:srgbClr val="0F2040"/>
          </a:solidFill>
          <a:ln w="15240">
            <a:solidFill>
              <a:srgbClr val="7B5E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1143000"/>
            <a:ext cx="987552" cy="54864"/>
          </a:xfrm>
          <a:prstGeom prst="rect">
            <a:avLst/>
          </a:prstGeom>
          <a:solidFill>
            <a:srgbClr val="7B5EFC"/>
          </a:solidFill>
          <a:ln w="12700">
            <a:solidFill>
              <a:srgbClr val="7B5E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123444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14600" y="1746504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11296" y="1673352"/>
            <a:ext cx="36576" cy="54864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1106424"/>
            <a:ext cx="1060704" cy="1188720"/>
          </a:xfrm>
          <a:prstGeom prst="rect">
            <a:avLst/>
          </a:prstGeom>
          <a:solidFill>
            <a:srgbClr val="FFD166">
              <a:alpha val="10000"/>
            </a:srgbClr>
          </a:solidFill>
          <a:ln w="12700">
            <a:solidFill>
              <a:srgbClr val="FFD166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57016" y="1143000"/>
            <a:ext cx="987552" cy="1115568"/>
          </a:xfrm>
          <a:prstGeom prst="rect">
            <a:avLst/>
          </a:prstGeom>
          <a:solidFill>
            <a:srgbClr val="0F2040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57016" y="1143000"/>
            <a:ext cx="987552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57016" y="123444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57016" y="1746504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intents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53712" y="1673352"/>
            <a:ext cx="36576" cy="54864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62856" y="1106424"/>
            <a:ext cx="1060704" cy="1188720"/>
          </a:xfrm>
          <a:prstGeom prst="rect">
            <a:avLst/>
          </a:prstGeom>
          <a:solidFill>
            <a:srgbClr val="00E5B4">
              <a:alpha val="10000"/>
            </a:srgbClr>
          </a:solidFill>
          <a:ln w="12700">
            <a:solidFill>
              <a:srgbClr val="00E5B4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99432" y="1143000"/>
            <a:ext cx="987552" cy="1115568"/>
          </a:xfrm>
          <a:prstGeom prst="rect">
            <a:avLst/>
          </a:prstGeom>
          <a:solidFill>
            <a:srgbClr val="0F2040"/>
          </a:solidFill>
          <a:ln w="15240">
            <a:solidFill>
              <a:srgbClr val="00E5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99432" y="1143000"/>
            <a:ext cx="987552" cy="54864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9432" y="123444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99432" y="1746504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query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96128" y="1673352"/>
            <a:ext cx="36576" cy="54864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05272" y="1106424"/>
            <a:ext cx="1060704" cy="1188720"/>
          </a:xfrm>
          <a:prstGeom prst="rect">
            <a:avLst/>
          </a:prstGeom>
          <a:solidFill>
            <a:srgbClr val="00B890">
              <a:alpha val="10000"/>
            </a:srgbClr>
          </a:solidFill>
          <a:ln w="12700">
            <a:solidFill>
              <a:srgbClr val="00B890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41848" y="1143000"/>
            <a:ext cx="987552" cy="1115568"/>
          </a:xfrm>
          <a:prstGeom prst="rect">
            <a:avLst/>
          </a:prstGeom>
          <a:solidFill>
            <a:srgbClr val="0F2040"/>
          </a:solidFill>
          <a:ln w="15240">
            <a:solidFill>
              <a:srgbClr val="00B8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41848" y="1143000"/>
            <a:ext cx="987552" cy="54864"/>
          </a:xfrm>
          <a:prstGeom prst="rect">
            <a:avLst/>
          </a:prstGeom>
          <a:solidFill>
            <a:srgbClr val="00B890"/>
          </a:solidFill>
          <a:ln w="12700">
            <a:solidFill>
              <a:srgbClr val="00B8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41848" y="123444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41848" y="1746504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CenamrkAIDB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638544" y="1673352"/>
            <a:ext cx="36576" cy="54864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47688" y="1106424"/>
            <a:ext cx="1060704" cy="1188720"/>
          </a:xfrm>
          <a:prstGeom prst="rect">
            <a:avLst/>
          </a:prstGeom>
          <a:solidFill>
            <a:srgbClr val="FFD166">
              <a:alpha val="10000"/>
            </a:srgbClr>
          </a:solidFill>
          <a:ln w="12700">
            <a:solidFill>
              <a:srgbClr val="FFD166">
                <a:alpha val="2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84264" y="1143000"/>
            <a:ext cx="987552" cy="1115568"/>
          </a:xfrm>
          <a:prstGeom prst="rect">
            <a:avLst/>
          </a:prstGeom>
          <a:solidFill>
            <a:srgbClr val="0F2040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84264" y="1143000"/>
            <a:ext cx="987552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84264" y="123444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84264" y="1746504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formats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reply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680960" y="1673352"/>
            <a:ext cx="36576" cy="54864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90104" y="1106424"/>
            <a:ext cx="1060704" cy="1188720"/>
          </a:xfrm>
          <a:prstGeom prst="rect">
            <a:avLst/>
          </a:prstGeom>
          <a:solidFill>
            <a:srgbClr val="7B5EFC">
              <a:alpha val="10000"/>
            </a:srgbClr>
          </a:solidFill>
          <a:ln w="12700">
            <a:solidFill>
              <a:srgbClr val="7B5EFC">
                <a:alpha val="2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26680" y="1143000"/>
            <a:ext cx="987552" cy="1115568"/>
          </a:xfrm>
          <a:prstGeom prst="rect">
            <a:avLst/>
          </a:prstGeom>
          <a:solidFill>
            <a:srgbClr val="0F2040"/>
          </a:solidFill>
          <a:ln w="15240">
            <a:solidFill>
              <a:srgbClr val="7B5EF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26680" y="1143000"/>
            <a:ext cx="987552" cy="54864"/>
          </a:xfrm>
          <a:prstGeom prst="rect">
            <a:avLst/>
          </a:prstGeom>
          <a:solidFill>
            <a:srgbClr val="7B5EFC"/>
          </a:solidFill>
          <a:ln w="12700">
            <a:solidFill>
              <a:srgbClr val="7B5E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26680" y="123444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26680" y="1746504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Kokoro / Google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output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92608" y="2542032"/>
            <a:ext cx="4114800" cy="530352"/>
          </a:xfrm>
          <a:prstGeom prst="rect">
            <a:avLst/>
          </a:prstGeom>
          <a:solidFill>
            <a:srgbClr val="00E5B4">
              <a:alpha val="8000"/>
            </a:srgbClr>
          </a:solidFill>
          <a:ln w="12700">
            <a:solidFill>
              <a:srgbClr val="00E5B4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" y="259689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⬤  Conversational branch: Greetings / Help / Identity bypass SQL entirely — handled by dedicated agent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81728" y="2542032"/>
            <a:ext cx="4114800" cy="530352"/>
          </a:xfrm>
          <a:prstGeom prst="rect">
            <a:avLst/>
          </a:prstGeom>
          <a:solidFill>
            <a:srgbClr val="7B5EFC">
              <a:alpha val="8000"/>
            </a:srgbClr>
          </a:solidFill>
          <a:ln w="12700">
            <a:solidFill>
              <a:srgbClr val="7B5EFC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18888" y="259689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⬤  Language router: Tamil &amp; Hindi → Google Cloud TTS  ·  English → Kokoro TTS (local, faster)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92608" y="3246120"/>
            <a:ext cx="8503920" cy="457200"/>
          </a:xfrm>
          <a:prstGeom prst="rect">
            <a:avLst/>
          </a:prstGeom>
          <a:solidFill>
            <a:srgbClr val="0F2040"/>
          </a:solidFill>
          <a:ln w="9525">
            <a:solidFill>
              <a:srgbClr val="1A3A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32735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Memory: 10-message rolling window per sessionId — three independent buffer nodes for Classifier, Conversational Agent, and Response Formatter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060D1F"/>
          </a:solidFill>
          <a:ln w="12700">
            <a:solidFill>
              <a:srgbClr val="060D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4553712"/>
            <a:ext cx="9144000" cy="274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2608" y="4626864"/>
            <a:ext cx="1261872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2608" y="462686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Orchestration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719072" y="4626864"/>
            <a:ext cx="1261872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19072" y="462686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Lite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145536" y="4626864"/>
            <a:ext cx="1261872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45536" y="462686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72000" y="4626864"/>
            <a:ext cx="1261872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0" y="462686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STT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998464" y="4626864"/>
            <a:ext cx="1261872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98464" y="462686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Kokoro TTS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7424928" y="4626864"/>
            <a:ext cx="1261872" cy="347472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24928" y="462686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TTS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0" y="73152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INTELLIGENCE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69494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SmartPruner AI classifies intent and responds in the user's language — with native script support and dedicated TTS voices.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" y="1207008"/>
            <a:ext cx="2670048" cy="354787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207008"/>
            <a:ext cx="2670048" cy="658368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0700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0" y="129844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1984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QUERIES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2336" y="2286000"/>
            <a:ext cx="2450592" cy="457200"/>
          </a:xfrm>
          <a:prstGeom prst="rect">
            <a:avLst/>
          </a:prstGeom>
          <a:solidFill>
            <a:srgbClr val="0D1E3C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2286000"/>
            <a:ext cx="36576" cy="457200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3317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is absent today?"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" y="2852928"/>
            <a:ext cx="2450592" cy="457200"/>
          </a:xfrm>
          <a:prstGeom prst="rect">
            <a:avLst/>
          </a:prstGeom>
          <a:solidFill>
            <a:srgbClr val="0D1E3C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" y="2852928"/>
            <a:ext cx="36576" cy="457200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89864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overtime this week"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2336" y="3419856"/>
            <a:ext cx="2450592" cy="457200"/>
          </a:xfrm>
          <a:prstGeom prst="rect">
            <a:avLst/>
          </a:prstGeom>
          <a:solidFill>
            <a:srgbClr val="0D1E3C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3419856"/>
            <a:ext cx="36576" cy="457200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346557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Ramesh present?"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336" y="4206240"/>
            <a:ext cx="2450592" cy="347472"/>
          </a:xfrm>
          <a:prstGeom prst="rect">
            <a:avLst/>
          </a:prstGeom>
          <a:solidFill>
            <a:srgbClr val="00E5B4">
              <a:alpha val="15000"/>
            </a:srgbClr>
          </a:solidFill>
          <a:ln w="12700">
            <a:solidFill>
              <a:srgbClr val="00E5B4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420624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Kokoro TTS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1207008"/>
            <a:ext cx="2670048" cy="354787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1207008"/>
            <a:ext cx="2670048" cy="6583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120700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193792" y="129844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37560" y="1984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QUERIES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310128" y="2286000"/>
            <a:ext cx="2450592" cy="457200"/>
          </a:xfrm>
          <a:prstGeom prst="rect">
            <a:avLst/>
          </a:prstGeom>
          <a:solidFill>
            <a:srgbClr val="0D1E3C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0128" y="2286000"/>
            <a:ext cx="36576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23317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"இன்னிக்கு யார் லேட்?"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10128" y="2852928"/>
            <a:ext cx="2450592" cy="457200"/>
          </a:xfrm>
          <a:prstGeom prst="rect">
            <a:avLst/>
          </a:prstGeom>
          <a:solidFill>
            <a:srgbClr val="0D1E3C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10128" y="2852928"/>
            <a:ext cx="36576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289864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"நேத்து யார் வந்தாங்க?"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10128" y="3419856"/>
            <a:ext cx="2450592" cy="457200"/>
          </a:xfrm>
          <a:prstGeom prst="rect">
            <a:avLst/>
          </a:prstGeom>
          <a:solidFill>
            <a:srgbClr val="0D1E3C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10128" y="3419856"/>
            <a:ext cx="36576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346557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"ரமேஷ் status என்ன?"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10128" y="4206240"/>
            <a:ext cx="2450592" cy="347472"/>
          </a:xfrm>
          <a:prstGeom prst="rect">
            <a:avLst/>
          </a:prstGeom>
          <a:solidFill>
            <a:srgbClr val="FFD166">
              <a:alpha val="15000"/>
            </a:srgbClr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420624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Google TTS ta-IN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08192" y="1207008"/>
            <a:ext cx="2670048" cy="354787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08192" y="1207008"/>
            <a:ext cx="2670048" cy="658368"/>
          </a:xfrm>
          <a:prstGeom prst="rect">
            <a:avLst/>
          </a:prstGeom>
          <a:solidFill>
            <a:srgbClr val="B8A8FF"/>
          </a:solidFill>
          <a:ln w="12700">
            <a:solidFill>
              <a:srgbClr val="B8A8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2784" y="120700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8101584" y="129844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45352" y="1984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8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QUERIES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217920" y="2286000"/>
            <a:ext cx="2450592" cy="457200"/>
          </a:xfrm>
          <a:prstGeom prst="rect">
            <a:avLst/>
          </a:prstGeom>
          <a:solidFill>
            <a:srgbClr val="0D1E3C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2286000"/>
            <a:ext cx="36576" cy="457200"/>
          </a:xfrm>
          <a:prstGeom prst="rect">
            <a:avLst/>
          </a:prstGeom>
          <a:solidFill>
            <a:srgbClr val="B8A8FF"/>
          </a:solidFill>
          <a:ln w="12700">
            <a:solidFill>
              <a:srgbClr val="B8A8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23317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"Aaj kaun absent hai?"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2852928"/>
            <a:ext cx="2450592" cy="457200"/>
          </a:xfrm>
          <a:prstGeom prst="rect">
            <a:avLst/>
          </a:prstGeom>
          <a:solidFill>
            <a:srgbClr val="0D1E3C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0" y="2852928"/>
            <a:ext cx="36576" cy="457200"/>
          </a:xfrm>
          <a:prstGeom prst="rect">
            <a:avLst/>
          </a:prstGeom>
          <a:solidFill>
            <a:srgbClr val="B8A8FF"/>
          </a:solidFill>
          <a:ln w="12700">
            <a:solidFill>
              <a:srgbClr val="B8A8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289864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hafte overtime kaun?"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17920" y="3419856"/>
            <a:ext cx="2450592" cy="457200"/>
          </a:xfrm>
          <a:prstGeom prst="rect">
            <a:avLst/>
          </a:prstGeom>
          <a:solidFill>
            <a:srgbClr val="0D1E3C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3419856"/>
            <a:ext cx="36576" cy="457200"/>
          </a:xfrm>
          <a:prstGeom prst="rect">
            <a:avLst/>
          </a:prstGeom>
          <a:solidFill>
            <a:srgbClr val="B8A8FF"/>
          </a:solidFill>
          <a:ln w="12700">
            <a:solidFill>
              <a:srgbClr val="B8A8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346557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"Ramesh aaj aaya?"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17920" y="4206240"/>
            <a:ext cx="2450592" cy="347472"/>
          </a:xfrm>
          <a:prstGeom prst="rect">
            <a:avLst/>
          </a:prstGeom>
          <a:solidFill>
            <a:srgbClr val="B8A8FF">
              <a:alpha val="15000"/>
            </a:srgbClr>
          </a:solidFill>
          <a:ln w="12700">
            <a:solidFill>
              <a:srgbClr val="B8A8FF">
                <a:alpha val="6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420624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Google TTS hi-IN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48737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auto-detected from message patterns · Tamil: inniku/nettru/yaar · Hindi: aaj/kal/kaun · English: default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144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IN 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84048" y="5303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 · SQL + spoken response out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005840"/>
            <a:ext cx="4160520" cy="804672"/>
          </a:xfrm>
          <a:prstGeom prst="rect">
            <a:avLst/>
          </a:prstGeom>
          <a:solidFill>
            <a:srgbClr val="0F2040"/>
          </a:solidFill>
          <a:ln w="9525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005840"/>
            <a:ext cx="54864" cy="804672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30168" y="1115568"/>
            <a:ext cx="713232" cy="219456"/>
          </a:xfrm>
          <a:prstGeom prst="rect">
            <a:avLst/>
          </a:prstGeom>
          <a:solidFill>
            <a:srgbClr val="00E5B4">
              <a:alpha val="14000"/>
            </a:srgbClr>
          </a:solidFill>
          <a:ln w="12700">
            <a:solidFill>
              <a:srgbClr val="00E5B4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111556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is absent today?"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attendance.absent.today.list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0016" y="1005840"/>
            <a:ext cx="4160520" cy="804672"/>
          </a:xfrm>
          <a:prstGeom prst="rect">
            <a:avLst/>
          </a:prstGeom>
          <a:solidFill>
            <a:srgbClr val="0F2040"/>
          </a:solidFill>
          <a:ln w="9525">
            <a:solidFill>
              <a:srgbClr val="1A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0016" y="1005840"/>
            <a:ext cx="54864" cy="8046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37576" y="1115568"/>
            <a:ext cx="713232" cy="219456"/>
          </a:xfrm>
          <a:prstGeom prst="rect">
            <a:avLst/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37576" y="111556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864608" y="10789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came late this week?"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4608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attendance.late.range.count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2608" y="1975104"/>
            <a:ext cx="4160520" cy="804672"/>
          </a:xfrm>
          <a:prstGeom prst="rect">
            <a:avLst/>
          </a:prstGeom>
          <a:solidFill>
            <a:srgbClr val="0F2040"/>
          </a:solidFill>
          <a:ln w="9525">
            <a:solidFill>
              <a:srgbClr val="1A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1975104"/>
            <a:ext cx="54864" cy="804672"/>
          </a:xfrm>
          <a:prstGeom prst="rect">
            <a:avLst/>
          </a:prstGeom>
          <a:solidFill>
            <a:srgbClr val="7B5EFC"/>
          </a:solidFill>
          <a:ln w="12700">
            <a:solidFill>
              <a:srgbClr val="7B5E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30168" y="2084832"/>
            <a:ext cx="713232" cy="219456"/>
          </a:xfrm>
          <a:prstGeom prst="rect">
            <a:avLst/>
          </a:prstGeom>
          <a:solidFill>
            <a:srgbClr val="7B5EFC">
              <a:alpha val="14000"/>
            </a:srgbClr>
          </a:solidFill>
          <a:ln w="12700">
            <a:solidFill>
              <a:srgbClr val="7B5EFC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20848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B5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204825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"Ramesh status today"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2432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5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attendance.employee.status.today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0016" y="1975104"/>
            <a:ext cx="4160520" cy="804672"/>
          </a:xfrm>
          <a:prstGeom prst="rect">
            <a:avLst/>
          </a:prstGeom>
          <a:solidFill>
            <a:srgbClr val="0F2040"/>
          </a:solidFill>
          <a:ln w="9525">
            <a:solidFill>
              <a:srgbClr val="1A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0016" y="1975104"/>
            <a:ext cx="54864" cy="8046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37576" y="2084832"/>
            <a:ext cx="713232" cy="219456"/>
          </a:xfrm>
          <a:prstGeom prst="rect">
            <a:avLst/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37576" y="20848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64608" y="204825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overtime last month"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608" y="2432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attendance.overtime.range.list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2608" y="2944368"/>
            <a:ext cx="4160520" cy="804672"/>
          </a:xfrm>
          <a:prstGeom prst="rect">
            <a:avLst/>
          </a:prstGeom>
          <a:solidFill>
            <a:srgbClr val="0F2040"/>
          </a:solidFill>
          <a:ln w="9525">
            <a:solidFill>
              <a:srgbClr val="1A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" y="2944368"/>
            <a:ext cx="54864" cy="804672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30168" y="3054096"/>
            <a:ext cx="713232" cy="219456"/>
          </a:xfrm>
          <a:prstGeom prst="rect">
            <a:avLst/>
          </a:prstGeom>
          <a:solidFill>
            <a:srgbClr val="00E5B4">
              <a:alpha val="14000"/>
            </a:srgbClr>
          </a:solidFill>
          <a:ln w="12700">
            <a:solidFill>
              <a:srgbClr val="00E5B4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0168" y="305409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57200" y="3017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"இன்னிக்கு யார் லேட்?"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3401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attendance.late.today.list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0016" y="2944368"/>
            <a:ext cx="4160520" cy="804672"/>
          </a:xfrm>
          <a:prstGeom prst="rect">
            <a:avLst/>
          </a:prstGeom>
          <a:solidFill>
            <a:srgbClr val="0F2040"/>
          </a:solidFill>
          <a:ln w="9525">
            <a:solidFill>
              <a:srgbClr val="1A3A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0016" y="2944368"/>
            <a:ext cx="54864" cy="804672"/>
          </a:xfrm>
          <a:prstGeom prst="rect">
            <a:avLst/>
          </a:prstGeom>
          <a:solidFill>
            <a:srgbClr val="7B5EFC"/>
          </a:solidFill>
          <a:ln w="12700">
            <a:solidFill>
              <a:srgbClr val="7B5E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37576" y="3054096"/>
            <a:ext cx="713232" cy="219456"/>
          </a:xfrm>
          <a:prstGeom prst="rect">
            <a:avLst/>
          </a:prstGeom>
          <a:solidFill>
            <a:srgbClr val="7B5EFC">
              <a:alpha val="14000"/>
            </a:srgbClr>
          </a:solidFill>
          <a:ln w="12700">
            <a:solidFill>
              <a:srgbClr val="7B5EFC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37576" y="305409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B5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64608" y="3017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"Subhasri late days last week"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64608" y="3401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5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attendance.employee.late.range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92608" y="3913632"/>
            <a:ext cx="4160520" cy="804672"/>
          </a:xfrm>
          <a:prstGeom prst="rect">
            <a:avLst/>
          </a:prstGeom>
          <a:solidFill>
            <a:srgbClr val="0F2040"/>
          </a:solidFill>
          <a:ln w="9525">
            <a:solidFill>
              <a:srgbClr val="1A3A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" y="3913632"/>
            <a:ext cx="54864" cy="804672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30168" y="4023360"/>
            <a:ext cx="713232" cy="219456"/>
          </a:xfrm>
          <a:prstGeom prst="rect">
            <a:avLst/>
          </a:prstGeom>
          <a:solidFill>
            <a:srgbClr val="00E5B4">
              <a:alpha val="14000"/>
            </a:srgbClr>
          </a:solidFill>
          <a:ln w="12700">
            <a:solidFill>
              <a:srgbClr val="00E5B4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30168" y="40233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57200" y="398678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"Aaj kaun absent hai?"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4370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attendance.absent.today.list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00016" y="3913632"/>
            <a:ext cx="4160520" cy="804672"/>
          </a:xfrm>
          <a:prstGeom prst="rect">
            <a:avLst/>
          </a:prstGeom>
          <a:solidFill>
            <a:srgbClr val="0F2040"/>
          </a:solidFill>
          <a:ln w="9525">
            <a:solidFill>
              <a:srgbClr val="1A3A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00016" y="3913632"/>
            <a:ext cx="54864" cy="804672"/>
          </a:xfrm>
          <a:prstGeom prst="rect">
            <a:avLst/>
          </a:prstGeom>
          <a:solidFill>
            <a:srgbClr val="FF4D8B"/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37576" y="4023360"/>
            <a:ext cx="713232" cy="219456"/>
          </a:xfrm>
          <a:prstGeom prst="rect">
            <a:avLst/>
          </a:prstGeom>
          <a:solidFill>
            <a:srgbClr val="FF4D8B">
              <a:alpha val="14000"/>
            </a:srgbClr>
          </a:solidFill>
          <a:ln w="12700">
            <a:solidFill>
              <a:srgbClr val="FF4D8B">
                <a:alpha val="4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37576" y="40233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864608" y="398678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this month's summary"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864608" y="4370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attendance.summary.month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60D1F"/>
          </a:solidFill>
          <a:ln w="12700">
            <a:solidFill>
              <a:srgbClr val="06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097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84048" y="6400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SmartPruner AI eliminates manual processes, breaks language barriers, and puts live HR data at every manager's fingertips.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Queries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51760" y="10515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51760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Dependency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00600" y="10515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5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800600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 Handled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49440" y="10515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949440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" y="2212848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" y="2212848"/>
            <a:ext cx="54864" cy="804672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Instant Answers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6151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attendance query answered in under one second — present/absent counts, individual records, date ranges.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27448" y="2212848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2212848"/>
            <a:ext cx="54864" cy="804672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Floor-Ready Voice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6151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supervisors speak their query on a phone. SmartPruner AI responds in spoken audio — hands-free.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2608" y="3145536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2608" y="3145536"/>
            <a:ext cx="54864" cy="804672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18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Zero Wrong-Employee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547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disambiguation lists matches by number. One tap selects the right person every time.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27448" y="3145536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27448" y="3145536"/>
            <a:ext cx="54864" cy="804672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218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No Excel Overhead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547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summaries computed and spoken instantly. Eliminates spreadsheet compilation entirely.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" y="4078224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92608" y="4078224"/>
            <a:ext cx="54864" cy="804672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513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Context Continuity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480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10-message session memory. Follow-up queries like 'and last week?' work without restating the name.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27448" y="4078224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27448" y="4078224"/>
            <a:ext cx="54864" cy="804672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1513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Inclusive by Design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4480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Tamil, and Hindi — diverse workforces get equal, native-language access to their own data.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5EFC"/>
          </a:solidFill>
          <a:ln w="12700">
            <a:solidFill>
              <a:srgbClr val="7B5E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chosen for speed, reliability, and enterprise-grade accuracy.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" y="1097280"/>
            <a:ext cx="1554480" cy="457200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2608" y="1691640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691640"/>
            <a:ext cx="36576" cy="512064"/>
          </a:xfrm>
          <a:prstGeom prst="rect">
            <a:avLst/>
          </a:prstGeom>
          <a:solidFill>
            <a:srgbClr val="00E5B4">
              <a:alpha val="60000"/>
            </a:srgbClr>
          </a:solidFill>
          <a:ln w="12700">
            <a:solidFill>
              <a:srgbClr val="00E5B4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9164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(self-hosted)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" y="2295144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2295144"/>
            <a:ext cx="36576" cy="512064"/>
          </a:xfrm>
          <a:prstGeom prst="rect">
            <a:avLst/>
          </a:prstGeom>
          <a:solidFill>
            <a:srgbClr val="00E5B4">
              <a:alpha val="60000"/>
            </a:srgbClr>
          </a:solidFill>
          <a:ln w="12700">
            <a:solidFill>
              <a:srgbClr val="00E5B4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95144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trigger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" y="2898648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2898648"/>
            <a:ext cx="36576" cy="512064"/>
          </a:xfrm>
          <a:prstGeom prst="rect">
            <a:avLst/>
          </a:prstGeom>
          <a:solidFill>
            <a:srgbClr val="00E5B4">
              <a:alpha val="60000"/>
            </a:srgbClr>
          </a:solidFill>
          <a:ln w="12700">
            <a:solidFill>
              <a:srgbClr val="00E5B4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898648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Code nodes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3502152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3502152"/>
            <a:ext cx="36576" cy="512064"/>
          </a:xfrm>
          <a:prstGeom prst="rect">
            <a:avLst/>
          </a:prstGeom>
          <a:solidFill>
            <a:srgbClr val="00E5B4">
              <a:alpha val="60000"/>
            </a:srgbClr>
          </a:solidFill>
          <a:ln w="12700">
            <a:solidFill>
              <a:srgbClr val="00E5B4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502152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608" y="4105656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" y="4105656"/>
            <a:ext cx="36576" cy="512064"/>
          </a:xfrm>
          <a:prstGeom prst="rect">
            <a:avLst/>
          </a:prstGeom>
          <a:solidFill>
            <a:srgbClr val="00E5B4">
              <a:alpha val="60000"/>
            </a:srgbClr>
          </a:solidFill>
          <a:ln w="12700">
            <a:solidFill>
              <a:srgbClr val="00E5B4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105656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resilience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11680" y="1097280"/>
            <a:ext cx="155448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011680" y="1691640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0" y="1691640"/>
            <a:ext cx="36576" cy="512064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169164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Lite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0" y="2295144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0" y="2295144"/>
            <a:ext cx="36576" cy="512064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2295144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classifier (temp 0)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0" y="2898648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0" y="2898648"/>
            <a:ext cx="36576" cy="512064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2898648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formatter (temp 0.7)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11680" y="3502152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11680" y="3502152"/>
            <a:ext cx="36576" cy="512064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03120" y="3502152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 (temp 0.8)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11680" y="4105656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11680" y="4105656"/>
            <a:ext cx="36576" cy="512064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4105656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model chaining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30752" y="1097280"/>
            <a:ext cx="1554480" cy="457200"/>
          </a:xfrm>
          <a:prstGeom prst="rect">
            <a:avLst/>
          </a:prstGeom>
          <a:solidFill>
            <a:srgbClr val="FF4D8B"/>
          </a:solidFill>
          <a:ln w="12700">
            <a:solidFill>
              <a:srgbClr val="FF4D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30752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Pipeline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730752" y="1691640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30752" y="1691640"/>
            <a:ext cx="36576" cy="512064"/>
          </a:xfrm>
          <a:prstGeom prst="rect">
            <a:avLst/>
          </a:prstGeom>
          <a:solidFill>
            <a:srgbClr val="FF4D8B">
              <a:alpha val="60000"/>
            </a:srgbClr>
          </a:solidFill>
          <a:ln w="12700">
            <a:solidFill>
              <a:srgbClr val="FF4D8B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22192" y="169164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Speech-to-Text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730752" y="2295144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30752" y="2295144"/>
            <a:ext cx="36576" cy="512064"/>
          </a:xfrm>
          <a:prstGeom prst="rect">
            <a:avLst/>
          </a:prstGeom>
          <a:solidFill>
            <a:srgbClr val="FF4D8B">
              <a:alpha val="60000"/>
            </a:srgbClr>
          </a:solidFill>
          <a:ln w="12700">
            <a:solidFill>
              <a:srgbClr val="FF4D8B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22192" y="2295144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STT (EN/TA/HI)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30752" y="2898648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30752" y="2898648"/>
            <a:ext cx="36576" cy="512064"/>
          </a:xfrm>
          <a:prstGeom prst="rect">
            <a:avLst/>
          </a:prstGeom>
          <a:solidFill>
            <a:srgbClr val="FF4D8B">
              <a:alpha val="60000"/>
            </a:srgbClr>
          </a:solidFill>
          <a:ln w="12700">
            <a:solidFill>
              <a:srgbClr val="FF4D8B">
                <a:alpha val="6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22192" y="2898648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Kokoro TTS — local MP3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730752" y="3502152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30752" y="3502152"/>
            <a:ext cx="36576" cy="512064"/>
          </a:xfrm>
          <a:prstGeom prst="rect">
            <a:avLst/>
          </a:prstGeom>
          <a:solidFill>
            <a:srgbClr val="FF4D8B">
              <a:alpha val="60000"/>
            </a:srgbClr>
          </a:solidFill>
          <a:ln w="12700">
            <a:solidFill>
              <a:srgbClr val="FF4D8B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22192" y="3502152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TTS — TA/HI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30752" y="4105656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30752" y="4105656"/>
            <a:ext cx="36576" cy="512064"/>
          </a:xfrm>
          <a:prstGeom prst="rect">
            <a:avLst/>
          </a:prstGeom>
          <a:solidFill>
            <a:srgbClr val="FF4D8B">
              <a:alpha val="60000"/>
            </a:srgbClr>
          </a:solidFill>
          <a:ln w="12700">
            <a:solidFill>
              <a:srgbClr val="FF4D8B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22192" y="4105656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MP3 response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49824" y="1097280"/>
            <a:ext cx="1554480" cy="457200"/>
          </a:xfrm>
          <a:prstGeom prst="rect">
            <a:avLst/>
          </a:prstGeom>
          <a:solidFill>
            <a:srgbClr val="7B5EFC"/>
          </a:solidFill>
          <a:ln w="12700">
            <a:solidFill>
              <a:srgbClr val="7B5E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49824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449824" y="1691640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49824" y="1691640"/>
            <a:ext cx="36576" cy="512064"/>
          </a:xfrm>
          <a:prstGeom prst="rect">
            <a:avLst/>
          </a:prstGeom>
          <a:solidFill>
            <a:srgbClr val="7B5EFC">
              <a:alpha val="60000"/>
            </a:srgbClr>
          </a:solidFill>
          <a:ln w="12700">
            <a:solidFill>
              <a:srgbClr val="7B5EFC">
                <a:alpha val="6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41264" y="169164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49824" y="2295144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49824" y="2295144"/>
            <a:ext cx="36576" cy="512064"/>
          </a:xfrm>
          <a:prstGeom prst="rect">
            <a:avLst/>
          </a:prstGeom>
          <a:solidFill>
            <a:srgbClr val="7B5EFC">
              <a:alpha val="60000"/>
            </a:srgbClr>
          </a:solidFill>
          <a:ln w="12700">
            <a:solidFill>
              <a:srgbClr val="7B5EFC">
                <a:alpha val="6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41264" y="2295144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CenamrkAIDB schema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449824" y="2898648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49824" y="2898648"/>
            <a:ext cx="36576" cy="512064"/>
          </a:xfrm>
          <a:prstGeom prst="rect">
            <a:avLst/>
          </a:prstGeom>
          <a:solidFill>
            <a:srgbClr val="7B5EFC">
              <a:alpha val="60000"/>
            </a:srgbClr>
          </a:solidFill>
          <a:ln w="12700">
            <a:solidFill>
              <a:srgbClr val="7B5EFC">
                <a:alpha val="6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41264" y="2898648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SQL builder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449824" y="3502152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49824" y="3502152"/>
            <a:ext cx="36576" cy="512064"/>
          </a:xfrm>
          <a:prstGeom prst="rect">
            <a:avLst/>
          </a:prstGeom>
          <a:solidFill>
            <a:srgbClr val="7B5EFC">
              <a:alpha val="60000"/>
            </a:srgbClr>
          </a:solidFill>
          <a:ln w="12700">
            <a:solidFill>
              <a:srgbClr val="7B5EFC">
                <a:alpha val="6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41264" y="3502152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449824" y="4105656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49824" y="4105656"/>
            <a:ext cx="36576" cy="512064"/>
          </a:xfrm>
          <a:prstGeom prst="rect">
            <a:avLst/>
          </a:prstGeom>
          <a:solidFill>
            <a:srgbClr val="7B5EFC">
              <a:alpha val="60000"/>
            </a:srgbClr>
          </a:solidFill>
          <a:ln w="12700">
            <a:solidFill>
              <a:srgbClr val="7B5EFC">
                <a:alpha val="6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41264" y="4105656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AttendanceSummary table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168896" y="1097280"/>
            <a:ext cx="1554480" cy="457200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68896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State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168896" y="1691640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168896" y="1691640"/>
            <a:ext cx="36576" cy="512064"/>
          </a:xfrm>
          <a:prstGeom prst="rect">
            <a:avLst/>
          </a:prstGeom>
          <a:solidFill>
            <a:srgbClr val="00E5B4">
              <a:alpha val="60000"/>
            </a:srgbClr>
          </a:solidFill>
          <a:ln w="12700">
            <a:solidFill>
              <a:srgbClr val="00E5B4">
                <a:alpha val="6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60336" y="169164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Window Memory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168896" y="2295144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68896" y="2295144"/>
            <a:ext cx="36576" cy="512064"/>
          </a:xfrm>
          <a:prstGeom prst="rect">
            <a:avLst/>
          </a:prstGeom>
          <a:solidFill>
            <a:srgbClr val="00E5B4">
              <a:alpha val="60000"/>
            </a:srgbClr>
          </a:solidFill>
          <a:ln w="12700">
            <a:solidFill>
              <a:srgbClr val="00E5B4">
                <a:alpha val="60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60336" y="2295144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10-msg context window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168896" y="2898648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168896" y="2898648"/>
            <a:ext cx="36576" cy="512064"/>
          </a:xfrm>
          <a:prstGeom prst="rect">
            <a:avLst/>
          </a:prstGeom>
          <a:solidFill>
            <a:srgbClr val="00E5B4">
              <a:alpha val="60000"/>
            </a:srgbClr>
          </a:solidFill>
          <a:ln w="12700">
            <a:solidFill>
              <a:srgbClr val="00E5B4">
                <a:alpha val="6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60336" y="2898648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independent agents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168896" y="3502152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68896" y="3502152"/>
            <a:ext cx="36576" cy="512064"/>
          </a:xfrm>
          <a:prstGeom prst="rect">
            <a:avLst/>
          </a:prstGeom>
          <a:solidFill>
            <a:srgbClr val="00E5B4">
              <a:alpha val="60000"/>
            </a:srgbClr>
          </a:solidFill>
          <a:ln w="12700">
            <a:solidFill>
              <a:srgbClr val="00E5B4">
                <a:alpha val="6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260336" y="3502152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key routing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168896" y="4105656"/>
            <a:ext cx="1554480" cy="512064"/>
          </a:xfrm>
          <a:prstGeom prst="rect">
            <a:avLst/>
          </a:prstGeom>
          <a:solidFill>
            <a:srgbClr val="0F2040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168896" y="4105656"/>
            <a:ext cx="36576" cy="512064"/>
          </a:xfrm>
          <a:prstGeom prst="rect">
            <a:avLst/>
          </a:prstGeom>
          <a:solidFill>
            <a:srgbClr val="00E5B4">
              <a:alpha val="60000"/>
            </a:srgbClr>
          </a:solidFill>
          <a:ln w="12700">
            <a:solidFill>
              <a:srgbClr val="00E5B4">
                <a:alpha val="6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260336" y="4105656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sessionId scoping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6400800" cy="6400800"/>
          </a:xfrm>
          <a:prstGeom prst="ellipse">
            <a:avLst/>
          </a:prstGeom>
          <a:solidFill>
            <a:srgbClr val="00E5B4">
              <a:alpha val="4000"/>
            </a:srgbClr>
          </a:solidFill>
          <a:ln w="12700">
            <a:solidFill>
              <a:srgbClr val="00E5B4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5486400" cy="5486400"/>
          </a:xfrm>
          <a:prstGeom prst="ellipse">
            <a:avLst/>
          </a:prstGeom>
          <a:solidFill>
            <a:srgbClr val="7B5EFC">
              <a:alpha val="4000"/>
            </a:srgbClr>
          </a:solidFill>
          <a:ln w="12700">
            <a:solidFill>
              <a:srgbClr val="7B5EFC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0E5B4">
              <a:alpha val="12000"/>
            </a:srgbClr>
          </a:solidFill>
          <a:ln w="12700">
            <a:solidFill>
              <a:srgbClr val="00E5B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37960" y="0"/>
            <a:ext cx="45720" cy="5143500"/>
          </a:xfrm>
          <a:prstGeom prst="rect">
            <a:avLst/>
          </a:prstGeom>
          <a:solidFill>
            <a:srgbClr val="00E5B4">
              <a:alpha val="70000"/>
            </a:srgbClr>
          </a:solidFill>
          <a:ln w="12700">
            <a:solidFill>
              <a:srgbClr val="00E5B4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0" y="7315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629400" y="1554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&amp; Live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03720" y="1920240"/>
            <a:ext cx="1920240" cy="36576"/>
          </a:xfrm>
          <a:prstGeom prst="rect">
            <a:avLst/>
          </a:prstGeom>
          <a:solidFill>
            <a:srgbClr val="00B890">
              <a:alpha val="50000"/>
            </a:srgbClr>
          </a:solidFill>
          <a:ln w="12700">
            <a:solidFill>
              <a:srgbClr val="00B890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17627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629400" y="29992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Powered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03720" y="3364992"/>
            <a:ext cx="1920240" cy="36576"/>
          </a:xfrm>
          <a:prstGeom prst="rect">
            <a:avLst/>
          </a:prstGeom>
          <a:solidFill>
            <a:srgbClr val="00B890">
              <a:alpha val="50000"/>
            </a:srgbClr>
          </a:solidFill>
          <a:ln w="12700">
            <a:solidFill>
              <a:srgbClr val="00B890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3621024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629400" y="444398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Native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457200"/>
            <a:ext cx="1463040" cy="347472"/>
          </a:xfrm>
          <a:prstGeom prst="rect">
            <a:avLst/>
          </a:prstGeom>
          <a:solidFill>
            <a:srgbClr val="00E5B4">
              <a:alpha val="12000"/>
            </a:srgbClr>
          </a:solidFill>
          <a:ln w="12700">
            <a:solidFill>
              <a:srgbClr val="00E5B4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457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0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SMARTPRUNER AI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4048" y="960120"/>
            <a:ext cx="5852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attendance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already here.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384048" y="3566160"/>
            <a:ext cx="4114800" cy="36576"/>
          </a:xfrm>
          <a:prstGeom prst="rect">
            <a:avLst/>
          </a:prstGeom>
          <a:solidFill>
            <a:srgbClr val="00E5B4"/>
          </a:solidFill>
          <a:ln w="12700">
            <a:solidFill>
              <a:srgbClr val="00E5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7033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English, Tamil, or Hindi.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" y="40233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spoken answer. Instantly.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773168"/>
            <a:ext cx="6537960" cy="3703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8006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Arif  ·  SmartPruner IT Wing  ·  ai.smartpruner.io  · 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SmartPruner AI 2026</dc:title>
  <dc:subject>PptxGenJS Presentation</dc:subject>
  <dc:creator>SmartPruner IT Wing</dc:creator>
  <cp:lastModifiedBy>SmartPruner IT Wing</cp:lastModifiedBy>
  <cp:revision>1</cp:revision>
  <dcterms:created xsi:type="dcterms:W3CDTF">2026-03-17T04:14:55Z</dcterms:created>
  <dcterms:modified xsi:type="dcterms:W3CDTF">2026-03-17T04:14:55Z</dcterms:modified>
</cp:coreProperties>
</file>